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59" r:id="rId6"/>
    <p:sldId id="271" r:id="rId7"/>
    <p:sldId id="269" r:id="rId8"/>
    <p:sldId id="260" r:id="rId9"/>
    <p:sldId id="261" r:id="rId10"/>
    <p:sldId id="262" r:id="rId11"/>
    <p:sldId id="263" r:id="rId12"/>
    <p:sldId id="265" r:id="rId13"/>
    <p:sldId id="264" r:id="rId14"/>
    <p:sldId id="266" r:id="rId15"/>
    <p:sldId id="272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32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ACBB-7DFD-ABB2-189F-B016C35D6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DD89-4BC1-5A8F-2A0E-BF0C09792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94994-321F-A8A9-83B0-6DEED3162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B26AE-FE42-99FF-64B8-5A730C0BF4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74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A5B8B-FC04-7F83-3ACF-72764F48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CFF02-DCA5-A035-ECB5-D506EF475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B306E-21A0-4A23-D7F5-D09F62A4C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EF20E-2706-65E6-6D92-3C1956F39F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13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Fridge2Fork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65760" y="2468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2EC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recipes to minimize food waste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Workshop  ·  Tel Aviv University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Check-in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225" y="158128"/>
            <a:ext cx="8186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90525" y="984799"/>
            <a:ext cx="51720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600" i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pantry is packed. Things get lost and expire in the back.</a:t>
            </a:r>
            <a:br>
              <a:rPr lang="en-GB" sz="1600" i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GB" sz="1600" i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GB" sz="1600" i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you catch one, you have no idea how to combine it.</a:t>
            </a:r>
            <a:br>
              <a:rPr lang="en-GB" sz="1600" i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GB" sz="1600" i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GB" sz="1600" i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231,000 recipes. Which one saves your ingredients?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474601"/>
            <a:ext cx="4480560" cy="493583"/>
          </a:xfrm>
          <a:prstGeom prst="rect">
            <a:avLst/>
          </a:prstGeom>
          <a:solidFill>
            <a:srgbClr val="F0F4F9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57200" y="2474601"/>
            <a:ext cx="64008" cy="493583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58368" y="247555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signal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693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· Content-based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51064"/>
            <a:ext cx="4480560" cy="492630"/>
          </a:xfrm>
          <a:prstGeom prst="rect">
            <a:avLst/>
          </a:prstGeom>
          <a:solidFill>
            <a:srgbClr val="F0F4F9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457200" y="3161525"/>
            <a:ext cx="64008" cy="492630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658368" y="316723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365649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urgency · Ingredient match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0525" y="4073277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4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recommender asks: what will you enjoy?</a:t>
            </a:r>
            <a:br>
              <a:rPr lang="en-GB" sz="14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GB" sz="14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GB" sz="14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ask: what will you enjoy — while minimizing your food waste?</a:t>
            </a:r>
            <a:endParaRPr lang="en-US" sz="1400" dirty="0"/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FEE38C24-7A6D-A618-5F1E-5E64F4B7DB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56" t="11798" r="25681" b="10752"/>
          <a:stretch>
            <a:fillRect/>
          </a:stretch>
        </p:blipFill>
        <p:spPr>
          <a:xfrm>
            <a:off x="5856923" y="1671909"/>
            <a:ext cx="3468764" cy="3471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dataset – food.com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911793" y="1242060"/>
            <a:ext cx="14173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2"/>
          <p:cNvSpPr/>
          <p:nvPr/>
        </p:nvSpPr>
        <p:spPr>
          <a:xfrm>
            <a:off x="2911793" y="13517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911793" y="18089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ratings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466273" y="1242060"/>
            <a:ext cx="14173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4466273" y="13517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466273" y="18089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recipes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11793" y="2476500"/>
            <a:ext cx="14173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2911793" y="25862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911793" y="30434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5-star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66273" y="2476500"/>
            <a:ext cx="14173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4466273" y="25862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466273" y="30434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density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36957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Positivity bias: users only rate what they cooked and enjoyed — global mean ≈ 4.4, not 3.0.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9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265998" cy="3291840"/>
          </a:xfrm>
          <a:prstGeom prst="rect">
            <a:avLst/>
          </a:prstGeom>
          <a:solidFill>
            <a:srgbClr val="232D3F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265998" cy="54864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84632" y="12984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2103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Onboarding · Pantry · Feed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6060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Browse · Profile · Shopping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562034" cy="3291840"/>
          </a:xfrm>
          <a:prstGeom prst="rect">
            <a:avLst/>
          </a:prstGeom>
          <a:solidFill>
            <a:srgbClr val="232D3F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562034" cy="82296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3410712" y="12984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0712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EC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2103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Routers: /users /pantry /recipes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6060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Services: scoring · expiry · match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31089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ML: serve_cf · serve_cb · cold_start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56832" y="1143000"/>
            <a:ext cx="2350008" cy="3291840"/>
          </a:xfrm>
          <a:prstGeom prst="rect">
            <a:avLst/>
          </a:prstGeom>
          <a:solidFill>
            <a:srgbClr val="232D3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6656832" y="1143000"/>
            <a:ext cx="235000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774955" y="12984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Models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74955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models/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74955" y="2103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Users · Pantry · Recipes · Events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74955" y="26060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cf_model.pkl  (Funk SVD)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74955" y="31089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200" dirty="0" err="1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item_sim.npz</a:t>
            </a: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cb_matrix.npz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86038" y="248888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45473" y="2763203"/>
            <a:ext cx="548640" cy="0"/>
          </a:xfrm>
          <a:prstGeom prst="line">
            <a:avLst/>
          </a:prstGeom>
          <a:noFill/>
          <a:ln w="15240">
            <a:solidFill>
              <a:srgbClr val="7A90A8"/>
            </a:solidFill>
            <a:prstDash val="dash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5925498" y="2512691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models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62074" y="2787011"/>
            <a:ext cx="548640" cy="0"/>
          </a:xfrm>
          <a:prstGeom prst="line">
            <a:avLst/>
          </a:prstGeom>
          <a:noFill/>
          <a:ln w="15240">
            <a:solidFill>
              <a:srgbClr val="7A90A8"/>
            </a:solidFill>
            <a:prstDash val="dash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182880" y="47137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Food.com dataset — 231k recipes · 1.07M ratings — trained offline, loaded at server start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97680" cy="987552"/>
          </a:xfrm>
          <a:prstGeom prst="rect">
            <a:avLst/>
          </a:prstGeom>
          <a:solidFill>
            <a:srgbClr val="F0F4F9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4008" cy="98755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name  ·  beta  ·  diet_tags  ·  has_cf  ·  has_cb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= per-user ingredient weight, starts 0.35, drifts over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4297680" cy="987552"/>
          </a:xfrm>
          <a:prstGeom prst="rect">
            <a:avLst/>
          </a:prstGeom>
          <a:solidFill>
            <a:srgbClr val="F0F4F9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64008" cy="987552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530352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pantry_items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578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·  ingredient (canonical)  ·  raw_name  ·  expiry_date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8712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"Tnuva 3%" stored as "milk" — bridges brand names to Food.com vocab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4297680" cy="987552"/>
          </a:xfrm>
          <a:prstGeom prst="rect">
            <a:avLst/>
          </a:prstGeom>
          <a:solidFill>
            <a:srgbClr val="F0F4F9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365760" y="3282696"/>
            <a:ext cx="64008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30352" y="3355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648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name  ·  ingredients_csv  ·  tags_csv  ·  avg_rating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39410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 Seeded once from Food.com. 231k rows.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1143000"/>
            <a:ext cx="3931920" cy="1371600"/>
          </a:xfrm>
          <a:prstGeom prst="rect">
            <a:avLst/>
          </a:prstGeom>
          <a:solidFill>
            <a:srgbClr val="F0F4F9"/>
          </a:solidFill>
          <a:ln w="12700">
            <a:solidFill>
              <a:srgbClr val="E8566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4892040" y="1143000"/>
            <a:ext cx="64008" cy="1371600"/>
          </a:xfrm>
          <a:prstGeom prst="rect">
            <a:avLst/>
          </a:prstGeom>
          <a:solidFill>
            <a:srgbClr val="E8566A"/>
          </a:solidFill>
          <a:ln w="12700">
            <a:solidFill>
              <a:srgbClr val="E8566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5056632" y="1216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user_events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56632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·  recipe_id  ·  event_type  ·  rating  ·  n_missing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56632" y="1801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"rate" trains CF · "cook" feeds beta updater · "skip" excludes 7d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651760"/>
            <a:ext cx="3931920" cy="822960"/>
          </a:xfrm>
          <a:prstGeom prst="rect">
            <a:avLst/>
          </a:prstGeom>
          <a:solidFill>
            <a:srgbClr val="F0F4F9"/>
          </a:solidFill>
          <a:ln w="12700">
            <a:solidFill>
              <a:srgbClr val="7A90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4892040" y="2651760"/>
            <a:ext cx="64008" cy="822960"/>
          </a:xfrm>
          <a:prstGeom prst="rect">
            <a:avLst/>
          </a:prstGeom>
          <a:solidFill>
            <a:srgbClr val="7A90A8"/>
          </a:solidFill>
          <a:ln w="12700">
            <a:solidFill>
              <a:srgbClr val="7A90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5056632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shopping_list_items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56632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·  ingredient  ·  source_recipe_id  ·  is_checked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748B2-ECA3-444D-F44E-B81E5083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B94B6E-FA6D-408E-E032-A5E13C6BA493}"/>
              </a:ext>
            </a:extLst>
          </p:cNvPr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- diagram</a:t>
            </a:r>
            <a:endParaRPr lang="en-US" sz="3000" dirty="0"/>
          </a:p>
        </p:txBody>
      </p: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F2A42EB0-BBF4-CD06-1B8E-BB96DA1AA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4" y="1102253"/>
            <a:ext cx="9062952" cy="395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3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ranking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 =  0.35 × CF  +  0.10 × CB  +  0.35 × expiry  +  β × match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11480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64008" cy="10058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 35%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— user taste from rating history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965960"/>
            <a:ext cx="411480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 10%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— TF-IDF cosine sim against pantry profile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11480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64008" cy="1005840"/>
          </a:xfrm>
          <a:prstGeom prst="rect">
            <a:avLst/>
          </a:prstGeom>
          <a:solidFill>
            <a:srgbClr val="E8566A"/>
          </a:solidFill>
          <a:ln w="12700">
            <a:solidFill>
              <a:srgbClr val="E8566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 35%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decay e^(−days/3) — urgency amplifier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1480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4800600" y="3154680"/>
            <a:ext cx="64008" cy="1005840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498348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 β%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611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pantry overlap. β per-user, learned from cook history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53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Candidates min-max normalized per component before blend.  Top 60 reranked with MMR for diversity.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— two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2935224"/>
          </a:xfrm>
          <a:prstGeom prst="rect">
            <a:avLst/>
          </a:prstGeom>
          <a:solidFill>
            <a:srgbClr val="232D3F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8229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548640" y="1243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 (0 ratings)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2103120" cy="2926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user vector exists yet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Seed: diet tags + pantry items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Item-item cosine similarity matrix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"Who liked these? What else did they like?"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60520" cy="2935224"/>
          </a:xfrm>
          <a:prstGeom prst="rect">
            <a:avLst/>
          </a:prstGeom>
          <a:solidFill>
            <a:srgbClr val="232D3F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60520" cy="82296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937760" y="1243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 (≥ 5 ratings)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1664208"/>
            <a:ext cx="2560320" cy="292608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93776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Matrix Factorization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Funk SVD · 50 latent factors · SGD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predicted(u,r) = μ + b_u + b_r + U[u]·V[r]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890k ratings · 35k users · 3-fold CV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61188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RMSE 0.61  vs  baseline 1.12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28032"/>
            <a:ext cx="8549640" cy="210312"/>
          </a:xfrm>
          <a:prstGeom prst="rect">
            <a:avLst/>
          </a:prstGeom>
          <a:solidFill>
            <a:srgbClr val="0D111A"/>
          </a:solidFill>
          <a:ln w="12700">
            <a:solidFill>
              <a:srgbClr val="0D111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365760" y="447141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Blend: α = n_ratings / 5   →   cf = (1−α) × item_based + α × biased_MF   →   no jump at 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→ Warm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r="13187"/>
          <a:stretch>
            <a:fillRect/>
          </a:stretch>
        </p:blipFill>
        <p:spPr>
          <a:xfrm>
            <a:off x="0" y="786384"/>
            <a:ext cx="4319589" cy="3657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96" r="277"/>
          <a:stretch>
            <a:fillRect/>
          </a:stretch>
        </p:blipFill>
        <p:spPr>
          <a:xfrm>
            <a:off x="4714875" y="742950"/>
            <a:ext cx="4486275" cy="3657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4663440"/>
            <a:ext cx="4114800" cy="274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2"/>
          <p:cNvSpPr/>
          <p:nvPr/>
        </p:nvSpPr>
        <p:spPr>
          <a:xfrm>
            <a:off x="3657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 ·  Item-based CF  ·  CF mode badge visible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663440" y="4663440"/>
            <a:ext cx="4114800" cy="274320"/>
          </a:xfrm>
          <a:prstGeom prst="rect">
            <a:avLst/>
          </a:prstGeom>
          <a:solidFill>
            <a:srgbClr val="EDF9F3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466344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user  ·  Matrix factorization  ·  CF + history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390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over ingredients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378649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1396937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1097280"/>
            <a:ext cx="7726680" cy="1078992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1207008" y="1188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recipes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517904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recipe → TF-IDF vector over ingredient tokens (20k vocab).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"Saffron" = rare → high weight. "Salt" = everywhere → near zero.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640521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11480" y="2658809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2359152"/>
            <a:ext cx="7726680" cy="1078992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207008" y="24505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user profile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277977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Cold: pantry ingredients as the profile vector.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Warm: weighted avg of rated recipes (weight = rating − 3.0).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 pulls toward, 1★ pulls away.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902393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11480" y="3920681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51560" y="3621024"/>
            <a:ext cx="7726680" cy="1078992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207008" y="37124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by cosine similarity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404164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sim(user_profile, recipe_vector)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 final formula: 10%  —  CF dominates, CB adds margin.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7914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outperforms CB. CB used at 10% weight — it adds signal at the margin.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12979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learning — and what adapts at runtime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076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100" i="1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static, </a:t>
            </a: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isn't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77640" cy="3520440"/>
          </a:xfrm>
          <a:prstGeom prst="rect">
            <a:avLst/>
          </a:prstGeom>
          <a:solidFill>
            <a:srgbClr val="232D3F"/>
          </a:solidFill>
          <a:ln w="12700">
            <a:solidFill>
              <a:srgbClr val="3A4A6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30352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offline, static on disk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664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cf_model.pkl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 SVD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441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item_sim_matrix.npz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734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Item-item cosine, top-50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cb_matrix.npz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511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for 231k recipes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4133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ratings are captured but on default not</a:t>
            </a:r>
            <a:r>
              <a:rPr lang="en-US" sz="1000" dirty="0"/>
              <a:t> </a:t>
            </a: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back into retraining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343400" cy="3520440"/>
          </a:xfrm>
          <a:prstGeom prst="rect">
            <a:avLst/>
          </a:prstGeom>
          <a:solidFill>
            <a:srgbClr val="232D3F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4343400" cy="73152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736592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per user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36592" y="153608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update (EMA after each cook)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1771977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revealed_β = 1 − avg_missing / threshold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36592" y="200923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new_β = 0.85 × current + 0.15 × revealed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2020" y="24216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taste profile  (rebuilt every request)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6592" y="25663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 of rated TF-IDF vectors.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— fresh on every request.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 pasta 5★ tonight → reflected tomorrow.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ML Item factors are fixed. Who you are within that space is computed fresh every request.</a:t>
            </a:r>
            <a:endParaRPr lang="en-US" sz="10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44BAD1D9-0E86-84B8-DE58-7C7AC30D6910}"/>
              </a:ext>
            </a:extLst>
          </p:cNvPr>
          <p:cNvSpPr/>
          <p:nvPr/>
        </p:nvSpPr>
        <p:spPr>
          <a:xfrm>
            <a:off x="4727448" y="353562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2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user vector (computed every request)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E98E5600-54C5-6721-585B-12BD67503CBD}"/>
              </a:ext>
            </a:extLst>
          </p:cNvPr>
          <p:cNvSpPr/>
          <p:nvPr/>
        </p:nvSpPr>
        <p:spPr>
          <a:xfrm>
            <a:off x="4732020" y="3598657"/>
            <a:ext cx="2962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GB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Fold-in against frozen item factors – </a:t>
            </a:r>
            <a:br>
              <a:rPr lang="en-GB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GB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position solved live from their ratings in the DB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262" y="2341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— expiry urgency in practice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537" y="1121092"/>
            <a:ext cx="5394960" cy="3383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960120"/>
            <a:ext cx="3108960" cy="1078992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2"/>
          <p:cNvSpPr/>
          <p:nvPr/>
        </p:nvSpPr>
        <p:spPr>
          <a:xfrm>
            <a:off x="5833872" y="1051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Vision scan → canonical name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833872" y="13807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vision strips brand → "milk"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0" y="2221992"/>
            <a:ext cx="3108960" cy="1078992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5833872" y="23134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Expiry decay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33872" y="26426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e^(−days/3)    ·     tomorrow = 0.72 urgency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3483864"/>
            <a:ext cx="3108960" cy="1078992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5833872" y="35753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Canonicalization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33872" y="39044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real-world labels to Food.com vocab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759" y="175065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pipeline — from 231k to 20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599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 · scoring · calibration · MMR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" cy="41148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365760" y="11978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1097280"/>
            <a:ext cx="7863840" cy="6858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1115568" y="1161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426464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recipes via Bayesian avg quality filter.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Drop: skipped (7d) · diet mismatches.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411480" cy="411480"/>
          </a:xfrm>
          <a:prstGeom prst="ellipse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1892808"/>
            <a:ext cx="7863840" cy="6858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115568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four components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221992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(item-based or MF) · CB (TF-IDF cosine) · expiry e^(−days/3) · ingredient match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2688336"/>
            <a:ext cx="7863840" cy="6858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115568" y="2752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01752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normalized across the candidate pool — so weights (35/10/35/β%) actually mean what they say.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575304"/>
            <a:ext cx="411480" cy="411480"/>
          </a:xfrm>
          <a:prstGeom prst="ellipse">
            <a:avLst/>
          </a:prstGeom>
          <a:solidFill>
            <a:srgbClr val="E8566A"/>
          </a:solidFill>
          <a:ln w="12700">
            <a:solidFill>
              <a:srgbClr val="E8566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3483864"/>
            <a:ext cx="7863840" cy="6858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1115568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blend → sort top 60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8130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= 0.35·CF + 0.10·CB + 0.35·expiry + β·match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70832"/>
            <a:ext cx="411480" cy="411480"/>
          </a:xfrm>
          <a:prstGeom prst="ellipse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365760" y="43799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0120" y="4279392"/>
            <a:ext cx="7863840" cy="6858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1115568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diversity rerank → top 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4608576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= 0.7·score − 0.3·max_Jaccard_to_selected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20 variations of the same dish.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1462" y="36957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– </a:t>
            </a:r>
            <a:r>
              <a:rPr lang="en-US" sz="3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</a:t>
            </a:r>
            <a:endParaRPr lang="en-US" sz="3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9100" y="1675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>
                <a:solidFill>
                  <a:schemeClr val="bg1"/>
                </a:solidFill>
              </a:rPr>
              <a:t>Food Part: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</a:rPr>
              <a:t>Cold Start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</a:rPr>
              <a:t>Total score: Expiry, match, and dynamic beta adapting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</a:rPr>
              <a:t>AI Vision: For expiry canonization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</a:rPr>
              <a:t>MMR: Rank diversity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dirty="0">
                <a:solidFill>
                  <a:schemeClr val="bg1"/>
                </a:solidFill>
              </a:rPr>
              <a:t>Drinks Part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dirty="0">
                <a:solidFill>
                  <a:schemeClr val="bg1"/>
                </a:solidFill>
              </a:rPr>
              <a:t>General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</a:rPr>
              <a:t>Integration of Both Parts of the product (UI, E2E)</a:t>
            </a:r>
            <a:br>
              <a:rPr lang="en-GB" sz="1100" dirty="0">
                <a:solidFill>
                  <a:schemeClr val="bg1"/>
                </a:solidFill>
              </a:rPr>
            </a:br>
            <a:br>
              <a:rPr lang="en-GB" sz="1100" dirty="0">
                <a:solidFill>
                  <a:schemeClr val="bg1"/>
                </a:solidFill>
              </a:rPr>
            </a:br>
            <a:br>
              <a:rPr lang="en-GB" sz="1100" dirty="0">
                <a:solidFill>
                  <a:schemeClr val="bg1"/>
                </a:solidFill>
              </a:rPr>
            </a:b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6D445-6A4E-2954-AFCC-162323F2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C98BF7-1654-A7CB-4255-80A8A203D1C7}"/>
              </a:ext>
            </a:extLst>
          </p:cNvPr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where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DBB3BE-FB4B-774E-8D9B-08A4BF887A14}"/>
              </a:ext>
            </a:extLst>
          </p:cNvPr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vs model files</a:t>
            </a:r>
            <a:endParaRPr lang="en-US" sz="1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EF2530B-5B2E-20C3-4885-159FD5737A2F}"/>
              </a:ext>
            </a:extLst>
          </p:cNvPr>
          <p:cNvSpPr/>
          <p:nvPr/>
        </p:nvSpPr>
        <p:spPr>
          <a:xfrm>
            <a:off x="365760" y="1097280"/>
            <a:ext cx="4023360" cy="3657600"/>
          </a:xfrm>
          <a:prstGeom prst="rect">
            <a:avLst/>
          </a:prstGeom>
          <a:solidFill>
            <a:srgbClr val="232D3F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8CA785-2C70-E257-7AFC-FD5628D1859B}"/>
              </a:ext>
            </a:extLst>
          </p:cNvPr>
          <p:cNvSpPr/>
          <p:nvPr/>
        </p:nvSpPr>
        <p:spPr>
          <a:xfrm>
            <a:off x="530352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(changes per session)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229737-6971-A738-AC23-8D4B35465C82}"/>
              </a:ext>
            </a:extLst>
          </p:cNvPr>
          <p:cNvSpPr/>
          <p:nvPr/>
        </p:nvSpPr>
        <p:spPr>
          <a:xfrm>
            <a:off x="530352" y="1627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User profiles, beta values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85BF53-C674-E552-DC43-94E7FC19AB73}"/>
              </a:ext>
            </a:extLst>
          </p:cNvPr>
          <p:cNvSpPr/>
          <p:nvPr/>
        </p:nvSpPr>
        <p:spPr>
          <a:xfrm>
            <a:off x="530352" y="22219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Pantry items + expiry dates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4A81F9-A0BA-E671-4069-5BF5AE029DA6}"/>
              </a:ext>
            </a:extLst>
          </p:cNvPr>
          <p:cNvSpPr/>
          <p:nvPr/>
        </p:nvSpPr>
        <p:spPr>
          <a:xfrm>
            <a:off x="530352" y="2816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Event history: cook · skip · rate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5281F5-F6E1-860A-59B6-2918197302CF}"/>
              </a:ext>
            </a:extLst>
          </p:cNvPr>
          <p:cNvSpPr/>
          <p:nvPr/>
        </p:nvSpPr>
        <p:spPr>
          <a:xfrm>
            <a:off x="530352" y="34107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Shopping lists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08FA5CE-FD4E-F1D7-EBAE-B6B60D933F71}"/>
              </a:ext>
            </a:extLst>
          </p:cNvPr>
          <p:cNvSpPr/>
          <p:nvPr/>
        </p:nvSpPr>
        <p:spPr>
          <a:xfrm>
            <a:off x="530352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specific user's state today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5164E58-9275-598C-17F4-3334093C21B8}"/>
              </a:ext>
            </a:extLst>
          </p:cNvPr>
          <p:cNvSpPr/>
          <p:nvPr/>
        </p:nvSpPr>
        <p:spPr>
          <a:xfrm>
            <a:off x="4754880" y="1097280"/>
            <a:ext cx="4160520" cy="3657600"/>
          </a:xfrm>
          <a:prstGeom prst="rect">
            <a:avLst/>
          </a:prstGeom>
          <a:solidFill>
            <a:srgbClr val="232D3F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0F35BD8-110C-E613-319C-ECAB63E72465}"/>
              </a:ext>
            </a:extLst>
          </p:cNvPr>
          <p:cNvSpPr/>
          <p:nvPr/>
        </p:nvSpPr>
        <p:spPr>
          <a:xfrm>
            <a:off x="4754880" y="1097280"/>
            <a:ext cx="4160520" cy="73152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BF284AD-137A-AE43-A4BF-B491D46EEA7D}"/>
              </a:ext>
            </a:extLst>
          </p:cNvPr>
          <p:cNvSpPr/>
          <p:nvPr/>
        </p:nvSpPr>
        <p:spPr>
          <a:xfrm>
            <a:off x="4919472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files  (trained once, static)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203BDD-9328-CF65-68A3-97C84B16D582}"/>
              </a:ext>
            </a:extLst>
          </p:cNvPr>
          <p:cNvSpPr/>
          <p:nvPr/>
        </p:nvSpPr>
        <p:spPr>
          <a:xfrm>
            <a:off x="4919472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cf_model.pkl</a:t>
            </a:r>
            <a:endParaRPr lang="en-US" sz="11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A8057FD-74DE-5BF2-4DB8-DA189AB750D9}"/>
              </a:ext>
            </a:extLst>
          </p:cNvPr>
          <p:cNvSpPr/>
          <p:nvPr/>
        </p:nvSpPr>
        <p:spPr>
          <a:xfrm>
            <a:off x="4919472" y="1901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MF weights, 35k users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8119BFD-1581-C201-6F4F-F8C8CBAA7A92}"/>
              </a:ext>
            </a:extLst>
          </p:cNvPr>
          <p:cNvSpPr/>
          <p:nvPr/>
        </p:nvSpPr>
        <p:spPr>
          <a:xfrm>
            <a:off x="4919472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item_sim_matrix.npz</a:t>
            </a:r>
            <a:endParaRPr lang="en-US" sz="11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00B961-B351-A97D-49C8-D9A78109193B}"/>
              </a:ext>
            </a:extLst>
          </p:cNvPr>
          <p:cNvSpPr/>
          <p:nvPr/>
        </p:nvSpPr>
        <p:spPr>
          <a:xfrm>
            <a:off x="4919472" y="2560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neighbors, ~51k recipes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8D1D13E-577B-D00D-A359-28060356A2D6}"/>
              </a:ext>
            </a:extLst>
          </p:cNvPr>
          <p:cNvSpPr/>
          <p:nvPr/>
        </p:nvSpPr>
        <p:spPr>
          <a:xfrm>
            <a:off x="4919472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cb_matrix.npz</a:t>
            </a:r>
            <a:endParaRPr lang="en-US" sz="11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4209273-C266-A893-7FE7-DE568B24CC2D}"/>
              </a:ext>
            </a:extLst>
          </p:cNvPr>
          <p:cNvSpPr/>
          <p:nvPr/>
        </p:nvSpPr>
        <p:spPr>
          <a:xfrm>
            <a:off x="4919472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231k recipes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F1C647F-CFDA-3ACC-1467-43D9271ECBA5}"/>
              </a:ext>
            </a:extLst>
          </p:cNvPr>
          <p:cNvSpPr/>
          <p:nvPr/>
        </p:nvSpPr>
        <p:spPr>
          <a:xfrm>
            <a:off x="4919472" y="3602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EC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cb_vectorizer.pkl</a:t>
            </a: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03E319C-69BA-8E5C-9189-61FCCAF4312A}"/>
              </a:ext>
            </a:extLst>
          </p:cNvPr>
          <p:cNvSpPr/>
          <p:nvPr/>
        </p:nvSpPr>
        <p:spPr>
          <a:xfrm>
            <a:off x="4919472" y="38770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 ingredient vocab</a:t>
            </a:r>
            <a:endParaRPr lang="en-US" sz="10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CE68CA4-DA49-57DF-8AFE-5AC70198CB5E}"/>
              </a:ext>
            </a:extLst>
          </p:cNvPr>
          <p:cNvSpPr/>
          <p:nvPr/>
        </p:nvSpPr>
        <p:spPr>
          <a:xfrm>
            <a:off x="4919472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knowledge of 197k Food.com users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A0B14F2-4B3D-855D-3248-E32D9777B043}"/>
              </a:ext>
            </a:extLst>
          </p:cNvPr>
          <p:cNvSpPr/>
          <p:nvPr/>
        </p:nvSpPr>
        <p:spPr>
          <a:xfrm>
            <a:off x="365760" y="484632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serving time: DB gives who you are + what's in your fridge. Model files give the collective taste knowledge. Scoring fuses both.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47469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CC7E"/>
          </a:solidFill>
          <a:ln w="12700">
            <a:solidFill>
              <a:srgbClr val="2ECC7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3256598" y="204959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EC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3036</TotalTime>
  <Words>1336</Words>
  <Application>Microsoft Office PowerPoint</Application>
  <PresentationFormat>‫הצגה על המסך (16:9)</PresentationFormat>
  <Paragraphs>194</Paragraphs>
  <Slides>16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Fridge2Fork — Mid Semester</dc:title>
  <dc:subject>PptxGenJS Presentation</dc:subject>
  <dc:creator>PptxGenJS</dc:creator>
  <cp:lastModifiedBy>Roy Wind</cp:lastModifiedBy>
  <cp:revision>21</cp:revision>
  <dcterms:created xsi:type="dcterms:W3CDTF">2026-05-24T09:50:51Z</dcterms:created>
  <dcterms:modified xsi:type="dcterms:W3CDTF">2026-05-28T08:27:39Z</dcterms:modified>
</cp:coreProperties>
</file>